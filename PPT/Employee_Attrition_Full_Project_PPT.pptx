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60" r:id="rId5"/>
    <p:sldId id="262" r:id="rId6"/>
    <p:sldId id="263" r:id="rId7"/>
    <p:sldId id="265" r:id="rId8"/>
    <p:sldId id="268" r:id="rId9"/>
    <p:sldId id="269" r:id="rId10"/>
    <p:sldId id="270" r:id="rId11"/>
    <p:sldId id="271" r:id="rId12"/>
    <p:sldId id="272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EA320C3-34A3-4091-B00F-755DE2D60F60}" v="1" dt="2026-07-31T07:07:27.6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46" d="100"/>
          <a:sy n="46" d="100"/>
        </p:scale>
        <p:origin x="43" y="7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oukik Ingale" userId="b9b83c3da3544e7e" providerId="LiveId" clId="{4773BD4D-8570-4A0A-A83C-894DF3DBC6E0}"/>
    <pc:docChg chg="undo custSel delSld modSld">
      <pc:chgData name="Loukik Ingale" userId="b9b83c3da3544e7e" providerId="LiveId" clId="{4773BD4D-8570-4A0A-A83C-894DF3DBC6E0}" dt="2026-07-31T07:07:27.649" v="40"/>
      <pc:docMkLst>
        <pc:docMk/>
      </pc:docMkLst>
      <pc:sldChg chg="addSp modSp mod">
        <pc:chgData name="Loukik Ingale" userId="b9b83c3da3544e7e" providerId="LiveId" clId="{4773BD4D-8570-4A0A-A83C-894DF3DBC6E0}" dt="2026-07-31T07:03:09.064" v="36" actId="1076"/>
        <pc:sldMkLst>
          <pc:docMk/>
          <pc:sldMk cId="0" sldId="260"/>
        </pc:sldMkLst>
        <pc:spChg chg="mod">
          <ac:chgData name="Loukik Ingale" userId="b9b83c3da3544e7e" providerId="LiveId" clId="{4773BD4D-8570-4A0A-A83C-894DF3DBC6E0}" dt="2026-07-31T07:02:37.745" v="30" actId="1076"/>
          <ac:spMkLst>
            <pc:docMk/>
            <pc:sldMk cId="0" sldId="260"/>
            <ac:spMk id="20" creationId="{00000000-0000-0000-0000-000000000000}"/>
          </ac:spMkLst>
        </pc:spChg>
        <pc:spChg chg="mod">
          <ac:chgData name="Loukik Ingale" userId="b9b83c3da3544e7e" providerId="LiveId" clId="{4773BD4D-8570-4A0A-A83C-894DF3DBC6E0}" dt="2026-07-31T07:02:41.687" v="31" actId="1076"/>
          <ac:spMkLst>
            <pc:docMk/>
            <pc:sldMk cId="0" sldId="260"/>
            <ac:spMk id="21" creationId="{00000000-0000-0000-0000-000000000000}"/>
          </ac:spMkLst>
        </pc:spChg>
        <pc:spChg chg="mod">
          <ac:chgData name="Loukik Ingale" userId="b9b83c3da3544e7e" providerId="LiveId" clId="{4773BD4D-8570-4A0A-A83C-894DF3DBC6E0}" dt="2026-07-31T07:02:47.759" v="32" actId="1076"/>
          <ac:spMkLst>
            <pc:docMk/>
            <pc:sldMk cId="0" sldId="260"/>
            <ac:spMk id="22" creationId="{00000000-0000-0000-0000-000000000000}"/>
          </ac:spMkLst>
        </pc:spChg>
        <pc:spChg chg="mod">
          <ac:chgData name="Loukik Ingale" userId="b9b83c3da3544e7e" providerId="LiveId" clId="{4773BD4D-8570-4A0A-A83C-894DF3DBC6E0}" dt="2026-07-31T07:02:21.905" v="27" actId="1076"/>
          <ac:spMkLst>
            <pc:docMk/>
            <pc:sldMk cId="0" sldId="260"/>
            <ac:spMk id="23" creationId="{00000000-0000-0000-0000-000000000000}"/>
          </ac:spMkLst>
        </pc:spChg>
        <pc:spChg chg="mod">
          <ac:chgData name="Loukik Ingale" userId="b9b83c3da3544e7e" providerId="LiveId" clId="{4773BD4D-8570-4A0A-A83C-894DF3DBC6E0}" dt="2026-07-31T07:01:59.164" v="23" actId="1076"/>
          <ac:spMkLst>
            <pc:docMk/>
            <pc:sldMk cId="0" sldId="260"/>
            <ac:spMk id="24" creationId="{00000000-0000-0000-0000-000000000000}"/>
          </ac:spMkLst>
        </pc:spChg>
        <pc:spChg chg="mod">
          <ac:chgData name="Loukik Ingale" userId="b9b83c3da3544e7e" providerId="LiveId" clId="{4773BD4D-8570-4A0A-A83C-894DF3DBC6E0}" dt="2026-07-31T07:02:04.379" v="24" actId="1076"/>
          <ac:spMkLst>
            <pc:docMk/>
            <pc:sldMk cId="0" sldId="260"/>
            <ac:spMk id="25" creationId="{00000000-0000-0000-0000-000000000000}"/>
          </ac:spMkLst>
        </pc:spChg>
        <pc:spChg chg="mod">
          <ac:chgData name="Loukik Ingale" userId="b9b83c3da3544e7e" providerId="LiveId" clId="{4773BD4D-8570-4A0A-A83C-894DF3DBC6E0}" dt="2026-07-31T07:02:09.291" v="25" actId="1076"/>
          <ac:spMkLst>
            <pc:docMk/>
            <pc:sldMk cId="0" sldId="260"/>
            <ac:spMk id="26" creationId="{00000000-0000-0000-0000-000000000000}"/>
          </ac:spMkLst>
        </pc:spChg>
        <pc:spChg chg="mod">
          <ac:chgData name="Loukik Ingale" userId="b9b83c3da3544e7e" providerId="LiveId" clId="{4773BD4D-8570-4A0A-A83C-894DF3DBC6E0}" dt="2026-07-31T07:01:04.291" v="15" actId="1076"/>
          <ac:spMkLst>
            <pc:docMk/>
            <pc:sldMk cId="0" sldId="260"/>
            <ac:spMk id="27" creationId="{00000000-0000-0000-0000-000000000000}"/>
          </ac:spMkLst>
        </pc:spChg>
        <pc:spChg chg="mod">
          <ac:chgData name="Loukik Ingale" userId="b9b83c3da3544e7e" providerId="LiveId" clId="{4773BD4D-8570-4A0A-A83C-894DF3DBC6E0}" dt="2026-07-31T07:01:19.592" v="17" actId="14100"/>
          <ac:spMkLst>
            <pc:docMk/>
            <pc:sldMk cId="0" sldId="260"/>
            <ac:spMk id="28" creationId="{00000000-0000-0000-0000-000000000000}"/>
          </ac:spMkLst>
        </pc:spChg>
        <pc:spChg chg="mod">
          <ac:chgData name="Loukik Ingale" userId="b9b83c3da3544e7e" providerId="LiveId" clId="{4773BD4D-8570-4A0A-A83C-894DF3DBC6E0}" dt="2026-07-31T07:01:04.291" v="15" actId="1076"/>
          <ac:spMkLst>
            <pc:docMk/>
            <pc:sldMk cId="0" sldId="260"/>
            <ac:spMk id="29" creationId="{00000000-0000-0000-0000-000000000000}"/>
          </ac:spMkLst>
        </pc:spChg>
        <pc:spChg chg="mod">
          <ac:chgData name="Loukik Ingale" userId="b9b83c3da3544e7e" providerId="LiveId" clId="{4773BD4D-8570-4A0A-A83C-894DF3DBC6E0}" dt="2026-07-31T07:01:04.291" v="15" actId="1076"/>
          <ac:spMkLst>
            <pc:docMk/>
            <pc:sldMk cId="0" sldId="260"/>
            <ac:spMk id="30" creationId="{00000000-0000-0000-0000-000000000000}"/>
          </ac:spMkLst>
        </pc:spChg>
        <pc:spChg chg="add mod">
          <ac:chgData name="Loukik Ingale" userId="b9b83c3da3544e7e" providerId="LiveId" clId="{4773BD4D-8570-4A0A-A83C-894DF3DBC6E0}" dt="2026-07-31T07:03:09.064" v="36" actId="1076"/>
          <ac:spMkLst>
            <pc:docMk/>
            <pc:sldMk cId="0" sldId="260"/>
            <ac:spMk id="33" creationId="{214043D5-C355-A2FD-7EE4-F25E1C82F8B7}"/>
          </ac:spMkLst>
        </pc:spChg>
        <pc:spChg chg="add mod">
          <ac:chgData name="Loukik Ingale" userId="b9b83c3da3544e7e" providerId="LiveId" clId="{4773BD4D-8570-4A0A-A83C-894DF3DBC6E0}" dt="2026-07-31T07:03:09.064" v="36" actId="1076"/>
          <ac:spMkLst>
            <pc:docMk/>
            <pc:sldMk cId="0" sldId="260"/>
            <ac:spMk id="35" creationId="{CFD6F6E4-048B-B761-C963-788862156B01}"/>
          </ac:spMkLst>
        </pc:spChg>
        <pc:spChg chg="add mod">
          <ac:chgData name="Loukik Ingale" userId="b9b83c3da3544e7e" providerId="LiveId" clId="{4773BD4D-8570-4A0A-A83C-894DF3DBC6E0}" dt="2026-07-31T07:03:09.064" v="36" actId="1076"/>
          <ac:spMkLst>
            <pc:docMk/>
            <pc:sldMk cId="0" sldId="260"/>
            <ac:spMk id="37" creationId="{BA4C5B6E-C9B7-3BBD-DB87-03D81A93EE83}"/>
          </ac:spMkLst>
        </pc:spChg>
        <pc:spChg chg="add mod">
          <ac:chgData name="Loukik Ingale" userId="b9b83c3da3544e7e" providerId="LiveId" clId="{4773BD4D-8570-4A0A-A83C-894DF3DBC6E0}" dt="2026-07-31T07:02:55.468" v="33" actId="1076"/>
          <ac:spMkLst>
            <pc:docMk/>
            <pc:sldMk cId="0" sldId="260"/>
            <ac:spMk id="39" creationId="{72C6FCBD-D0EF-9529-204A-270DE9F0F0EE}"/>
          </ac:spMkLst>
        </pc:spChg>
      </pc:sldChg>
      <pc:sldChg chg="del">
        <pc:chgData name="Loukik Ingale" userId="b9b83c3da3544e7e" providerId="LiveId" clId="{4773BD4D-8570-4A0A-A83C-894DF3DBC6E0}" dt="2026-07-31T07:03:37.621" v="37" actId="2696"/>
        <pc:sldMkLst>
          <pc:docMk/>
          <pc:sldMk cId="0" sldId="264"/>
        </pc:sldMkLst>
      </pc:sldChg>
      <pc:sldChg chg="del">
        <pc:chgData name="Loukik Ingale" userId="b9b83c3da3544e7e" providerId="LiveId" clId="{4773BD4D-8570-4A0A-A83C-894DF3DBC6E0}" dt="2026-07-31T07:05:10.519" v="38" actId="2696"/>
        <pc:sldMkLst>
          <pc:docMk/>
          <pc:sldMk cId="0" sldId="266"/>
        </pc:sldMkLst>
      </pc:sldChg>
      <pc:sldChg chg="del">
        <pc:chgData name="Loukik Ingale" userId="b9b83c3da3544e7e" providerId="LiveId" clId="{4773BD4D-8570-4A0A-A83C-894DF3DBC6E0}" dt="2026-07-31T07:05:29.750" v="39" actId="2696"/>
        <pc:sldMkLst>
          <pc:docMk/>
          <pc:sldMk cId="0" sldId="267"/>
        </pc:sldMkLst>
      </pc:sldChg>
      <pc:sldChg chg="modSp">
        <pc:chgData name="Loukik Ingale" userId="b9b83c3da3544e7e" providerId="LiveId" clId="{4773BD4D-8570-4A0A-A83C-894DF3DBC6E0}" dt="2026-07-31T07:07:27.649" v="40"/>
        <pc:sldMkLst>
          <pc:docMk/>
          <pc:sldMk cId="0" sldId="270"/>
        </pc:sldMkLst>
        <pc:spChg chg="mod">
          <ac:chgData name="Loukik Ingale" userId="b9b83c3da3544e7e" providerId="LiveId" clId="{4773BD4D-8570-4A0A-A83C-894DF3DBC6E0}" dt="2026-07-31T07:07:27.649" v="40"/>
          <ac:spMkLst>
            <pc:docMk/>
            <pc:sldMk cId="0" sldId="270"/>
            <ac:spMk id="8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1E2761"/>
                </a:solidFill>
                <a:latin typeface="Arial"/>
              </a:rPr>
              <a:t>Attrition Rate by Overtime Status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 Rate (%)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A39-4ACC-AE1F-A63B5D440A86}"/>
              </c:ext>
            </c:extLst>
          </c:dPt>
          <c:dPt>
            <c:idx val="1"/>
            <c:invertIfNegative val="0"/>
            <c:bubble3D val="0"/>
            <c:spPr>
              <a:solidFill>
                <a:srgbClr val="B03A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A39-4ACC-AE1F-A63B5D440A86}"/>
              </c:ext>
            </c:extLst>
          </c:dPt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 i="0" u="none" strike="noStrike">
                    <a:solidFill>
                      <a:srgbClr val="3333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No Overtime</c:v>
                </c:pt>
                <c:pt idx="1">
                  <c:v>Overtime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10.4</c:v>
                </c:pt>
                <c:pt idx="1">
                  <c:v>30.5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A39-4ACC-AE1F-A63B5D440A8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5"/>
        </c:scaling>
        <c:delete val="0"/>
        <c:axPos val="l"/>
        <c:majorGridlines>
          <c:spPr>
            <a:ln w="12700" cap="flat">
              <a:solidFill>
                <a:srgbClr val="E0E0E0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Arial"/>
              </a:defRPr>
            </a:pPr>
            <a:r>
              <a:rPr lang="en-IN" sz="1300" b="0" i="0" u="none" strike="noStrike">
                <a:solidFill>
                  <a:srgbClr val="1E2761"/>
                </a:solidFill>
                <a:latin typeface="Arial"/>
              </a:rPr>
              <a:t>F1-Score Across Techniques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F1-Score (%)</c:v>
                </c:pt>
              </c:strCache>
            </c:strRef>
          </c:tx>
          <c:spPr>
            <a:solidFill>
              <a:srgbClr val="5B6472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E45-450B-94F9-0A6496B6710E}"/>
              </c:ext>
            </c:extLst>
          </c:dPt>
          <c:dPt>
            <c:idx val="1"/>
            <c:invertIfNegative val="0"/>
            <c:bubble3D val="0"/>
            <c:spPr>
              <a:solidFill>
                <a:srgbClr val="1C729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E45-450B-94F9-0A6496B6710E}"/>
              </c:ext>
            </c:extLst>
          </c:dPt>
          <c:dPt>
            <c:idx val="2"/>
            <c:invertIfNegative val="0"/>
            <c:bubble3D val="0"/>
            <c:spPr>
              <a:solidFill>
                <a:srgbClr val="F2B13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E45-450B-94F9-0A6496B6710E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 i="0" u="none" strike="noStrike">
                    <a:solidFill>
                      <a:srgbClr val="3333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Original</c:v>
                </c:pt>
                <c:pt idx="1">
                  <c:v>Class-Weighted</c:v>
                </c:pt>
                <c:pt idx="2">
                  <c:v>SMOTE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44.4</c:v>
                </c:pt>
                <c:pt idx="1">
                  <c:v>46.3</c:v>
                </c:pt>
                <c:pt idx="2">
                  <c:v>48.1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1E45-450B-94F9-0A6496B6710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5"/>
        </c:scaling>
        <c:delete val="0"/>
        <c:axPos val="l"/>
        <c:majorGridlines>
          <c:spPr>
            <a:ln w="12700" cap="flat">
              <a:solidFill>
                <a:srgbClr val="E0E0E0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0044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188720"/>
            <a:ext cx="5029200" cy="5029200"/>
          </a:xfrm>
          <a:prstGeom prst="ellipse">
            <a:avLst/>
          </a:prstGeom>
          <a:solidFill>
            <a:srgbClr val="263478"/>
          </a:solidFill>
          <a:ln/>
        </p:spPr>
      </p:sp>
      <p:sp>
        <p:nvSpPr>
          <p:cNvPr id="3" name="Shape 1"/>
          <p:cNvSpPr/>
          <p:nvPr/>
        </p:nvSpPr>
        <p:spPr>
          <a:xfrm>
            <a:off x="10149840" y="4389120"/>
            <a:ext cx="2926080" cy="2926080"/>
          </a:xfrm>
          <a:prstGeom prst="ellipse">
            <a:avLst/>
          </a:prstGeom>
          <a:solidFill>
            <a:srgbClr val="263478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28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PROJECT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2194560"/>
            <a:ext cx="9875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Employee Attrition Prediction</a:t>
            </a:r>
            <a:endParaRPr lang="en-US" sz="3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Machine Learning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22960" y="397764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Approach to Understanding and Reducing Employee Turnover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5989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IBM HR Employee Attrition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E4CD74B2-DA98-70B2-ED77-2F77C03A6983}"/>
              </a:ext>
            </a:extLst>
          </p:cNvPr>
          <p:cNvSpPr/>
          <p:nvPr/>
        </p:nvSpPr>
        <p:spPr>
          <a:xfrm>
            <a:off x="777240" y="45948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: Loukik Ajit Ingale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645920"/>
            <a:ext cx="457200" cy="45720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61872" y="160020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attrition = employees voluntarily or involuntarily leaving an organization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423160"/>
            <a:ext cx="457200" cy="45720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61872" y="237744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attrition increases hiring, training, and lost-productivity costs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200400"/>
            <a:ext cx="457200" cy="45720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61872" y="315468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teams typically react only after an employee has already resigned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3977640"/>
            <a:ext cx="457200" cy="45720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977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61872" y="393192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can uncover hidden patterns in historical employee data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" y="4754880"/>
            <a:ext cx="457200" cy="45720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754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61872" y="470916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uses the IBM HR Employee Attrition dataset (1,470 records, 33 features)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0080" y="5532120"/>
            <a:ext cx="457200" cy="45720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5532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61872" y="548640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predict attrition risk early to support proactive, not reactive, retention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645920"/>
            <a:ext cx="457200" cy="457200"/>
          </a:xfrm>
          <a:prstGeom prst="ellipse">
            <a:avLst/>
          </a:prstGeom>
          <a:solidFill>
            <a:srgbClr val="B03A2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61872" y="160020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Organizations struggle to identify which employees are likely to resign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423160"/>
            <a:ext cx="457200" cy="457200"/>
          </a:xfrm>
          <a:prstGeom prst="ellipse">
            <a:avLst/>
          </a:prstGeom>
          <a:solidFill>
            <a:srgbClr val="B03A2E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61872" y="237744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Turnover management today is largely reactive, not predictive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200400"/>
            <a:ext cx="457200" cy="457200"/>
          </a:xfrm>
          <a:prstGeom prst="ellipse">
            <a:avLst/>
          </a:prstGeom>
          <a:solidFill>
            <a:srgbClr val="B03A2E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61872" y="315468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teams lack a systematic, data-driven early-warning system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3977640"/>
            <a:ext cx="457200" cy="457200"/>
          </a:xfrm>
          <a:prstGeom prst="ellipse">
            <a:avLst/>
          </a:prstGeom>
          <a:solidFill>
            <a:srgbClr val="B03A2E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977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61872" y="393192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drivers of attrition — workload, satisfaction, travel — are not tracked together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" y="4754880"/>
            <a:ext cx="457200" cy="457200"/>
          </a:xfrm>
          <a:prstGeom prst="ellipse">
            <a:avLst/>
          </a:prstGeom>
          <a:solidFill>
            <a:srgbClr val="B03A2E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754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61872" y="470916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existing model connects employee attributes to attrition risk in this dataset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0080" y="5532120"/>
            <a:ext cx="457200" cy="457200"/>
          </a:xfrm>
          <a:prstGeom prst="ellipse">
            <a:avLst/>
          </a:prstGeom>
          <a:solidFill>
            <a:srgbClr val="B03A2E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5532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61872" y="548640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Need: a model that flags at-risk employees before they hand in their resignation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Workflow /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 followed in this project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1042416" y="2651762"/>
            <a:ext cx="2286000" cy="1234440"/>
          </a:xfrm>
          <a:prstGeom prst="roundRect">
            <a:avLst>
              <a:gd name="adj" fmla="val 7407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1152144" y="2743202"/>
            <a:ext cx="206654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Data Collection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52144" y="3154682"/>
            <a:ext cx="206654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HR dataset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1,470 rows, 33 features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328416" y="2651762"/>
            <a:ext cx="320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648456" y="2651762"/>
            <a:ext cx="2286000" cy="1234440"/>
          </a:xfrm>
          <a:prstGeom prst="roundRect">
            <a:avLst>
              <a:gd name="adj" fmla="val 7407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3758184" y="2743202"/>
            <a:ext cx="206654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Data Cleaning &amp; EDA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758184" y="3154682"/>
            <a:ext cx="206654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Nulls, duplicates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discovery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934456" y="2651762"/>
            <a:ext cx="320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6254496" y="2651762"/>
            <a:ext cx="2286000" cy="1234440"/>
          </a:xfrm>
          <a:prstGeom prst="roundRect">
            <a:avLst>
              <a:gd name="adj" fmla="val 7407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364224" y="2743202"/>
            <a:ext cx="206654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Preprocessing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64224" y="3154682"/>
            <a:ext cx="206654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Encoding, scaling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split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540496" y="2651762"/>
            <a:ext cx="320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8860536" y="2651762"/>
            <a:ext cx="2286000" cy="1234440"/>
          </a:xfrm>
          <a:prstGeom prst="roundRect">
            <a:avLst>
              <a:gd name="adj" fmla="val 7407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8970264" y="2743202"/>
            <a:ext cx="206654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Model Training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970264" y="3154682"/>
            <a:ext cx="206654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algorithms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&amp; compared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860536" y="3886202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3339554" y="4279716"/>
            <a:ext cx="2414308" cy="1234440"/>
          </a:xfrm>
          <a:prstGeom prst="roundRect">
            <a:avLst>
              <a:gd name="adj" fmla="val 7407"/>
            </a:avLst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3351276" y="4371156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Prediction &amp; Explainability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346704" y="4782636"/>
            <a:ext cx="252374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 deployed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 factors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774436" y="4206242"/>
            <a:ext cx="320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6135624" y="4284286"/>
            <a:ext cx="2423160" cy="1234440"/>
          </a:xfrm>
          <a:prstGeom prst="roundRect">
            <a:avLst>
              <a:gd name="adj" fmla="val 7407"/>
            </a:avLst>
          </a:prstGeom>
          <a:solidFill>
            <a:srgbClr val="1C7293"/>
          </a:solidFill>
          <a:ln/>
        </p:spPr>
      </p:sp>
      <p:sp>
        <p:nvSpPr>
          <p:cNvPr id="25" name="Text 23"/>
          <p:cNvSpPr/>
          <p:nvPr/>
        </p:nvSpPr>
        <p:spPr>
          <a:xfrm>
            <a:off x="6227064" y="4389122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Model Evaluation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227064" y="4787206"/>
            <a:ext cx="252374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Recall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F1, ROC-AUC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558784" y="4284286"/>
            <a:ext cx="320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2400" dirty="0"/>
          </a:p>
        </p:txBody>
      </p:sp>
      <p:sp>
        <p:nvSpPr>
          <p:cNvPr id="28" name="Shape 26"/>
          <p:cNvSpPr/>
          <p:nvPr/>
        </p:nvSpPr>
        <p:spPr>
          <a:xfrm>
            <a:off x="8915400" y="4284286"/>
            <a:ext cx="2249424" cy="1234440"/>
          </a:xfrm>
          <a:prstGeom prst="roundRect">
            <a:avLst>
              <a:gd name="adj" fmla="val 7407"/>
            </a:avLst>
          </a:prstGeom>
          <a:solidFill>
            <a:srgbClr val="1C7293"/>
          </a:solidFill>
          <a:ln/>
        </p:spPr>
      </p:sp>
      <p:sp>
        <p:nvSpPr>
          <p:cNvPr id="29" name="Text 27"/>
          <p:cNvSpPr/>
          <p:nvPr/>
        </p:nvSpPr>
        <p:spPr>
          <a:xfrm>
            <a:off x="9025128" y="4375726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Handling Imbalance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025128" y="4787206"/>
            <a:ext cx="252374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weighting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SMOTE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3" name="Shape 18">
            <a:extLst>
              <a:ext uri="{FF2B5EF4-FFF2-40B4-BE49-F238E27FC236}">
                <a16:creationId xmlns:a16="http://schemas.microsoft.com/office/drawing/2014/main" id="{214043D5-C355-A2FD-7EE4-F25E1C82F8B7}"/>
              </a:ext>
            </a:extLst>
          </p:cNvPr>
          <p:cNvSpPr/>
          <p:nvPr/>
        </p:nvSpPr>
        <p:spPr>
          <a:xfrm>
            <a:off x="603504" y="4233899"/>
            <a:ext cx="2423160" cy="1371600"/>
          </a:xfrm>
          <a:prstGeom prst="roundRect">
            <a:avLst>
              <a:gd name="adj" fmla="val 6667"/>
            </a:avLst>
          </a:prstGeom>
          <a:solidFill>
            <a:srgbClr val="F2B134"/>
          </a:solidFill>
          <a:ln/>
        </p:spPr>
      </p:sp>
      <p:sp>
        <p:nvSpPr>
          <p:cNvPr id="35" name="Text 19">
            <a:extLst>
              <a:ext uri="{FF2B5EF4-FFF2-40B4-BE49-F238E27FC236}">
                <a16:creationId xmlns:a16="http://schemas.microsoft.com/office/drawing/2014/main" id="{CFD6F6E4-048B-B761-C963-788862156B01}"/>
              </a:ext>
            </a:extLst>
          </p:cNvPr>
          <p:cNvSpPr/>
          <p:nvPr/>
        </p:nvSpPr>
        <p:spPr>
          <a:xfrm>
            <a:off x="731520" y="4352771"/>
            <a:ext cx="216712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Power BI Dashboard</a:t>
            </a:r>
            <a:endParaRPr lang="en-US" sz="1250" dirty="0"/>
          </a:p>
        </p:txBody>
      </p:sp>
      <p:sp>
        <p:nvSpPr>
          <p:cNvPr id="37" name="Text 20">
            <a:extLst>
              <a:ext uri="{FF2B5EF4-FFF2-40B4-BE49-F238E27FC236}">
                <a16:creationId xmlns:a16="http://schemas.microsoft.com/office/drawing/2014/main" id="{BA4C5B6E-C9B7-3BBD-DB87-03D81A93EE83}"/>
              </a:ext>
            </a:extLst>
          </p:cNvPr>
          <p:cNvSpPr/>
          <p:nvPr/>
        </p:nvSpPr>
        <p:spPr>
          <a:xfrm>
            <a:off x="731520" y="4828259"/>
            <a:ext cx="216712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reporting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monitoring</a:t>
            </a:r>
            <a:endParaRPr lang="en-US" sz="1000" dirty="0"/>
          </a:p>
        </p:txBody>
      </p:sp>
      <p:sp>
        <p:nvSpPr>
          <p:cNvPr id="39" name="Text 21">
            <a:extLst>
              <a:ext uri="{FF2B5EF4-FFF2-40B4-BE49-F238E27FC236}">
                <a16:creationId xmlns:a16="http://schemas.microsoft.com/office/drawing/2014/main" id="{72C6FCBD-D0EF-9529-204A-270DE9F0F0EE}"/>
              </a:ext>
            </a:extLst>
          </p:cNvPr>
          <p:cNvSpPr/>
          <p:nvPr/>
        </p:nvSpPr>
        <p:spPr>
          <a:xfrm>
            <a:off x="3004793" y="4197712"/>
            <a:ext cx="320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EDA Insights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discovered through exploratory data analysis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457200" cy="457200"/>
          </a:xfrm>
          <a:prstGeom prst="ellipse">
            <a:avLst/>
          </a:prstGeom>
          <a:solidFill>
            <a:srgbClr val="B03A2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61872" y="16916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Overtime workers leave 3x more often (30.5% vs 10.4%)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450592"/>
            <a:ext cx="457200" cy="457200"/>
          </a:xfrm>
          <a:prstGeom prst="ellipse">
            <a:avLst/>
          </a:prstGeom>
          <a:solidFill>
            <a:srgbClr val="B03A2E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4505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61872" y="240487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 travelers show higher attrition (24.9%)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3163824"/>
            <a:ext cx="457200" cy="457200"/>
          </a:xfrm>
          <a:prstGeom prst="ellipse">
            <a:avLst/>
          </a:prstGeom>
          <a:solidFill>
            <a:srgbClr val="B03A2E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1638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61872" y="3118104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employees leave more than married or divorced staff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3877056"/>
            <a:ext cx="457200" cy="457200"/>
          </a:xfrm>
          <a:prstGeom prst="ellipse">
            <a:avLst/>
          </a:prstGeom>
          <a:solidFill>
            <a:srgbClr val="B03A2E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8770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61872" y="3831336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HR teams see higher attrition than R&amp;D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4590288"/>
            <a:ext cx="457200" cy="457200"/>
          </a:xfrm>
          <a:prstGeom prst="ellipse">
            <a:avLst/>
          </a:prstGeom>
          <a:solidFill>
            <a:srgbClr val="B03A2E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5902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61872" y="4544568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Leavers earn less &amp; stay less time (median $3,202 vs $5,204)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40080" y="5303520"/>
            <a:ext cx="457200" cy="457200"/>
          </a:xfrm>
          <a:prstGeom prst="ellipse">
            <a:avLst/>
          </a:prstGeom>
          <a:solidFill>
            <a:srgbClr val="B03A2E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5303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61872" y="525780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job &amp; environment satisfaction linked to leaving</a:t>
            </a:r>
            <a:endParaRPr lang="en-US" sz="1500" dirty="0"/>
          </a:p>
        </p:txBody>
      </p:sp>
      <p:graphicFrame>
        <p:nvGraphicFramePr>
          <p:cNvPr id="22" name="Chart 0"/>
          <p:cNvGraphicFramePr/>
          <p:nvPr/>
        </p:nvGraphicFramePr>
        <p:xfrm>
          <a:off x="6949440" y="1691640"/>
          <a:ext cx="466344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3" name="Text 20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Preprocessing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Preparing raw HR data for machine learning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61872" y="169164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non-informative ID column (EmployeeNumber)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57860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5786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61872" y="2532888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Encoded categorical variables using One-Hot Encoding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341985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4198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61872" y="3374136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Scaled numerical features using StandardScaler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26110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2611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61872" y="4215384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dataset into 80% training and 20% testing (stratified)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510235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51023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61872" y="5056632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encoder &amp; scaler objects for reuse in deployment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040880" y="1737360"/>
            <a:ext cx="448056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040880" y="1874520"/>
            <a:ext cx="448056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 → 45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7178040" y="2531059"/>
            <a:ext cx="4206240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After Encoding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040880" y="3246120"/>
            <a:ext cx="448056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040880" y="3383280"/>
            <a:ext cx="448056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1,176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7178040" y="4039819"/>
            <a:ext cx="4206240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Rows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040880" y="4754880"/>
            <a:ext cx="448056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040880" y="4892040"/>
            <a:ext cx="448056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294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7178040" y="5548579"/>
            <a:ext cx="4206240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Rows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Handling Class Imbalance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16.1% of employees left — the model initially missed most of them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61872" y="16916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dataset heavily imbalanced (83.9% stayed vs 16.1% left)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57860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5786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61872" y="2532888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model caught only 34% of employees who actually left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3419856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4198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61872" y="3374136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class_weight = "balanced" → Recall improved to 66%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261104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2611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61872" y="4215384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SMOTE oversampling → F1-Score improved further to 48.1%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510235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51023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61872" y="505663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cross-validation confirmed stability (mean training F1 ≈ 79%)</a:t>
            </a:r>
            <a:endParaRPr lang="en-US" sz="1500" dirty="0"/>
          </a:p>
        </p:txBody>
      </p:sp>
      <p:graphicFrame>
        <p:nvGraphicFramePr>
          <p:cNvPr id="19" name="Chart 0"/>
          <p:cNvGraphicFramePr/>
          <p:nvPr/>
        </p:nvGraphicFramePr>
        <p:xfrm>
          <a:off x="6949440" y="1691640"/>
          <a:ext cx="466344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0" name="Text 17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34137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9202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514600"/>
            <a:ext cx="2956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Risk Detection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68680" y="2926080"/>
            <a:ext cx="29565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at-risk employees before they resign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107680" y="1691640"/>
            <a:ext cx="34137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336280" y="19202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833628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36280" y="2514600"/>
            <a:ext cx="2956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Reduction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336280" y="2926080"/>
            <a:ext cx="29565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Lowers recruitment &amp; training expenses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" y="3931920"/>
            <a:ext cx="34137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68680" y="41605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68680" y="4754880"/>
            <a:ext cx="2956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Insights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68680" y="5166360"/>
            <a:ext cx="29565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 controllable factors like overtime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373880" y="3931920"/>
            <a:ext cx="34137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02480" y="41605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Text 23"/>
          <p:cNvSpPr/>
          <p:nvPr/>
        </p:nvSpPr>
        <p:spPr>
          <a:xfrm>
            <a:off x="4602480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602480" y="4754880"/>
            <a:ext cx="2956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4602480" y="5166360"/>
            <a:ext cx="29565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to larger datasets &amp; organizations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107680" y="3931920"/>
            <a:ext cx="34137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336280" y="41605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0" name="Text 28"/>
          <p:cNvSpPr/>
          <p:nvPr/>
        </p:nvSpPr>
        <p:spPr>
          <a:xfrm>
            <a:off x="8336280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336280" y="4754880"/>
            <a:ext cx="2956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Pipeline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8336280" y="5166360"/>
            <a:ext cx="29565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Automated, repeatable predictions on new data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Disadvantages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34137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920240"/>
            <a:ext cx="457200" cy="457200"/>
          </a:xfrm>
          <a:prstGeom prst="ellipse">
            <a:avLst/>
          </a:prstGeom>
          <a:solidFill>
            <a:srgbClr val="B03A2E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514600"/>
            <a:ext cx="2956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Dependent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68680" y="2926080"/>
            <a:ext cx="29565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quality relies on data quality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73880" y="1691640"/>
            <a:ext cx="34137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02480" y="1920240"/>
            <a:ext cx="457200" cy="457200"/>
          </a:xfrm>
          <a:prstGeom prst="ellipse">
            <a:avLst/>
          </a:prstGeom>
          <a:solidFill>
            <a:srgbClr val="B03A2E"/>
          </a:solidFill>
          <a:ln/>
        </p:spPr>
      </p:sp>
      <p:sp>
        <p:nvSpPr>
          <p:cNvPr id="10" name="Text 8"/>
          <p:cNvSpPr/>
          <p:nvPr/>
        </p:nvSpPr>
        <p:spPr>
          <a:xfrm>
            <a:off x="460248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02480" y="2514600"/>
            <a:ext cx="2956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 Sensitivity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602480" y="2926080"/>
            <a:ext cx="29565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bias results if not carefully handled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107680" y="1691640"/>
            <a:ext cx="34137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336280" y="1920240"/>
            <a:ext cx="457200" cy="457200"/>
          </a:xfrm>
          <a:prstGeom prst="ellipse">
            <a:avLst/>
          </a:prstGeom>
          <a:solidFill>
            <a:srgbClr val="B03A2E"/>
          </a:solidFill>
          <a:ln/>
        </p:spPr>
      </p:sp>
      <p:sp>
        <p:nvSpPr>
          <p:cNvPr id="15" name="Text 13"/>
          <p:cNvSpPr/>
          <p:nvPr/>
        </p:nvSpPr>
        <p:spPr>
          <a:xfrm>
            <a:off x="833628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36280" y="2514600"/>
            <a:ext cx="2956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Context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336280" y="2926080"/>
            <a:ext cx="29565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Misses personal or external reasons for leaving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645920"/>
            <a:ext cx="457200" cy="45720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61872" y="160020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real-time data from HRMS/HR systems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423160"/>
            <a:ext cx="457200" cy="45720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61872" y="237744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model to recommend retention actions, not just risk scores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" y="3976667"/>
            <a:ext cx="457200" cy="45720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976667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61872" y="315468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automated alerts for newly flagged high-risk employees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23" name="Shape 13">
            <a:extLst>
              <a:ext uri="{FF2B5EF4-FFF2-40B4-BE49-F238E27FC236}">
                <a16:creationId xmlns:a16="http://schemas.microsoft.com/office/drawing/2014/main" id="{D2E4FE81-E345-50EF-1BD0-78AE3568CCA0}"/>
              </a:ext>
            </a:extLst>
          </p:cNvPr>
          <p:cNvSpPr/>
          <p:nvPr/>
        </p:nvSpPr>
        <p:spPr>
          <a:xfrm>
            <a:off x="640080" y="3201373"/>
            <a:ext cx="457200" cy="45720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DB6E491-FAD9-01B9-7A32-4D7E43633B61}"/>
              </a:ext>
            </a:extLst>
          </p:cNvPr>
          <p:cNvSpPr txBox="1"/>
          <p:nvPr/>
        </p:nvSpPr>
        <p:spPr>
          <a:xfrm>
            <a:off x="739302" y="3264069"/>
            <a:ext cx="26264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7" name="Text 15">
            <a:extLst>
              <a:ext uri="{FF2B5EF4-FFF2-40B4-BE49-F238E27FC236}">
                <a16:creationId xmlns:a16="http://schemas.microsoft.com/office/drawing/2014/main" id="{213E16C5-5DC8-AE11-60A7-D20BA5A1E1B4}"/>
              </a:ext>
            </a:extLst>
          </p:cNvPr>
          <p:cNvSpPr/>
          <p:nvPr/>
        </p:nvSpPr>
        <p:spPr>
          <a:xfrm>
            <a:off x="1261872" y="393192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Web platform </a:t>
            </a:r>
            <a:r>
              <a:rPr lang="en-US" sz="1500" dirty="0" err="1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uing</a:t>
            </a: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UI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7830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61872" y="173736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is driven by measurable, controllable factors — overtime, travel, satisfaction, promotions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6974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697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61872" y="265176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with SMOTE gave the best balance of recall and interpretability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6118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611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61872" y="356616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model correctly flags about 66% of employees who actually leave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45262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526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61872" y="448056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proactive HR intervention instead of reactive replacement hiring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" y="54406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5440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61872" y="539496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a scalable, reusable foundation for a complete HR analytics system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263478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-1645920"/>
            <a:ext cx="3657600" cy="3657600"/>
          </a:xfrm>
          <a:prstGeom prst="ellipse">
            <a:avLst/>
          </a:prstGeom>
          <a:solidFill>
            <a:srgbClr val="263478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65176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35204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5989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Attrition Prediction Using Machine Learning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729</Words>
  <Application>Microsoft Office PowerPoint</Application>
  <PresentationFormat>Widescreen</PresentationFormat>
  <Paragraphs>182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Loukik Ingale</cp:lastModifiedBy>
  <cp:revision>8</cp:revision>
  <dcterms:created xsi:type="dcterms:W3CDTF">2026-07-30T04:29:33Z</dcterms:created>
  <dcterms:modified xsi:type="dcterms:W3CDTF">2026-07-31T07:07:30Z</dcterms:modified>
</cp:coreProperties>
</file>